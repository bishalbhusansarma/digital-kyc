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half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Digital KYC: Reduce Drop-Off, Lift Conversion</a:t>
            </a:r>
          </a:p>
        </p:txBody>
      </p:sp>
      <p:sp>
        <p:nvSpPr>
          <p:cNvPr id="95" name="Subtitle 2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By: Bishal Bhusan Sarma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Project Overview</a:t>
            </a:r>
          </a:p>
        </p:txBody>
      </p:sp>
      <p:sp>
        <p:nvSpPr>
          <p:cNvPr id="98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</a:pPr>
            <a:r>
              <a:t>• A digital KYC system to onboard new customers smoothly.</a:t>
            </a:r>
          </a:p>
          <a:p>
            <a:pPr marL="0" indent="0">
              <a:buSzTx/>
              <a:buFontTx/>
              <a:buNone/>
            </a:pPr>
            <a:r>
              <a:t>• Allows customers to upload documents and photos directly from the app.</a:t>
            </a:r>
          </a:p>
          <a:p>
            <a:pPr marL="0" indent="0">
              <a:buSzTx/>
              <a:buFontTx/>
              <a:buNone/>
            </a:pPr>
            <a:r>
              <a:t>• System validates documents and approves or rejects KYC.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KYC Process Flow</a:t>
            </a:r>
          </a:p>
        </p:txBody>
      </p:sp>
      <p:sp>
        <p:nvSpPr>
          <p:cNvPr id="101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</a:pPr>
            <a:r>
              <a:t>1. Customer selects KYC document type.</a:t>
            </a:r>
          </a:p>
          <a:p>
            <a:pPr marL="0" indent="0">
              <a:buSzTx/>
              <a:buFontTx/>
              <a:buNone/>
            </a:pPr>
            <a:r>
              <a:t>2. Scans and uploads the document.</a:t>
            </a:r>
          </a:p>
          <a:p>
            <a:pPr marL="0" indent="0">
              <a:buSzTx/>
              <a:buFontTx/>
              <a:buNone/>
            </a:pPr>
            <a:r>
              <a:t>3. Uploads ID photo and live photo.</a:t>
            </a:r>
          </a:p>
          <a:p>
            <a:pPr marL="0" indent="0">
              <a:buSzTx/>
              <a:buFontTx/>
              <a:buNone/>
            </a:pPr>
            <a:r>
              <a:t>4. System validates and gives result.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Current Issues</a:t>
            </a:r>
          </a:p>
        </p:txBody>
      </p:sp>
      <p:sp>
        <p:nvSpPr>
          <p:cNvPr id="104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</a:pPr>
            <a:r>
              <a:t>• Duplicate KYC entries.</a:t>
            </a:r>
          </a:p>
          <a:p>
            <a:pPr marL="0" indent="0">
              <a:buSzTx/>
              <a:buFontTx/>
              <a:buNone/>
            </a:pPr>
            <a:r>
              <a:t>• Slow server response time.</a:t>
            </a:r>
          </a:p>
          <a:p>
            <a:pPr marL="0" indent="0">
              <a:buSzTx/>
              <a:buFontTx/>
              <a:buNone/>
            </a:pPr>
            <a:r>
              <a:t>• Incorrect/unclear document scanning.</a:t>
            </a:r>
          </a:p>
          <a:p>
            <a:pPr marL="0" indent="0">
              <a:buSzTx/>
              <a:buFontTx/>
              <a:buNone/>
            </a:pPr>
            <a:r>
              <a:t>• High rejection after 3 failed attempts.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Expected Outcomes</a:t>
            </a:r>
          </a:p>
        </p:txBody>
      </p:sp>
      <p:sp>
        <p:nvSpPr>
          <p:cNvPr id="107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</a:pPr>
            <a:r>
              <a:t>• Lower customer abandonment.</a:t>
            </a:r>
          </a:p>
          <a:p>
            <a:pPr marL="0" indent="0">
              <a:buSzTx/>
              <a:buFontTx/>
              <a:buNone/>
            </a:pPr>
            <a:r>
              <a:t>• Faster turnaround time.</a:t>
            </a:r>
          </a:p>
          <a:p>
            <a:pPr marL="0" indent="0">
              <a:buSzTx/>
              <a:buFontTx/>
              <a:buNone/>
            </a:pPr>
            <a:r>
              <a:t>• Clear navigation for each step.</a:t>
            </a:r>
          </a:p>
          <a:p>
            <a:pPr marL="0" indent="0">
              <a:buSzTx/>
              <a:buFontTx/>
              <a:buNone/>
            </a:pPr>
            <a:r>
              <a:t>• Reduced re-submission rates.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KYC Guidelines</a:t>
            </a:r>
          </a:p>
        </p:txBody>
      </p:sp>
      <p:sp>
        <p:nvSpPr>
          <p:cNvPr id="110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0" indent="0" defTabSz="310895">
              <a:spcBef>
                <a:spcPts val="500"/>
              </a:spcBef>
              <a:buSzTx/>
              <a:buFontTx/>
              <a:buNone/>
              <a:defRPr sz="2176"/>
            </a:pPr>
            <a:r>
              <a:t>Acceptable Documents:</a:t>
            </a:r>
          </a:p>
          <a:p>
            <a:pPr marL="0" indent="0" defTabSz="310895">
              <a:spcBef>
                <a:spcPts val="500"/>
              </a:spcBef>
              <a:buSzTx/>
              <a:buFontTx/>
              <a:buNone/>
              <a:defRPr sz="2176"/>
            </a:pPr>
            <a:r>
              <a:t>• Aadhar Card</a:t>
            </a:r>
          </a:p>
          <a:p>
            <a:pPr marL="0" indent="0" defTabSz="310895">
              <a:spcBef>
                <a:spcPts val="500"/>
              </a:spcBef>
              <a:buSzTx/>
              <a:buFontTx/>
              <a:buNone/>
              <a:defRPr sz="2176"/>
            </a:pPr>
            <a:r>
              <a:t>• PAN Card</a:t>
            </a:r>
          </a:p>
          <a:p>
            <a:pPr marL="0" indent="0" defTabSz="310895">
              <a:spcBef>
                <a:spcPts val="500"/>
              </a:spcBef>
              <a:buSzTx/>
              <a:buFontTx/>
              <a:buNone/>
              <a:defRPr sz="2176"/>
            </a:pPr>
            <a:r>
              <a:t>• Passport</a:t>
            </a:r>
          </a:p>
          <a:p>
            <a:pPr marL="0" indent="0" defTabSz="310895">
              <a:spcBef>
                <a:spcPts val="500"/>
              </a:spcBef>
              <a:buSzTx/>
              <a:buFontTx/>
              <a:buNone/>
              <a:defRPr sz="2176"/>
            </a:pPr>
            <a:r>
              <a:t>• Voter ID</a:t>
            </a:r>
          </a:p>
          <a:p>
            <a:pPr marL="0" indent="0" defTabSz="310895">
              <a:spcBef>
                <a:spcPts val="500"/>
              </a:spcBef>
              <a:buSzTx/>
              <a:buFontTx/>
              <a:buNone/>
              <a:defRPr sz="2176"/>
            </a:pPr>
          </a:p>
          <a:p>
            <a:pPr marL="0" indent="0" defTabSz="310895">
              <a:spcBef>
                <a:spcPts val="500"/>
              </a:spcBef>
              <a:buSzTx/>
              <a:buFontTx/>
              <a:buNone/>
              <a:defRPr sz="2176"/>
            </a:pPr>
            <a:r>
              <a:t>Rules:</a:t>
            </a:r>
          </a:p>
          <a:p>
            <a:pPr marL="0" indent="0" defTabSz="310895">
              <a:spcBef>
                <a:spcPts val="500"/>
              </a:spcBef>
              <a:buSzTx/>
              <a:buFontTx/>
              <a:buNone/>
              <a:defRPr sz="2176"/>
            </a:pPr>
            <a:r>
              <a:t>• PAN + Aadhar mandatory for digital onboarding.</a:t>
            </a:r>
          </a:p>
          <a:p>
            <a:pPr marL="0" indent="0" defTabSz="310895">
              <a:spcBef>
                <a:spcPts val="500"/>
              </a:spcBef>
              <a:buSzTx/>
              <a:buFontTx/>
              <a:buNone/>
              <a:defRPr sz="2176"/>
            </a:pPr>
            <a:r>
              <a:t>• Photo must match live photo.</a:t>
            </a:r>
          </a:p>
          <a:p>
            <a:pPr marL="0" indent="0" defTabSz="310895">
              <a:spcBef>
                <a:spcPts val="500"/>
              </a:spcBef>
              <a:buSzTx/>
              <a:buFontTx/>
              <a:buNone/>
              <a:defRPr sz="2176"/>
            </a:pPr>
            <a:r>
              <a:t>• Passport must have 6 months validity.</a:t>
            </a:r>
          </a:p>
          <a:p>
            <a:pPr marL="0" indent="0" defTabSz="310895">
              <a:spcBef>
                <a:spcPts val="500"/>
              </a:spcBef>
              <a:buSzTx/>
              <a:buFontTx/>
              <a:buNone/>
              <a:defRPr sz="2176"/>
            </a:pPr>
            <a:r>
              <a:t>• 3 attempts allowed per stage.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Proposed Improvements</a:t>
            </a:r>
          </a:p>
        </p:txBody>
      </p:sp>
      <p:sp>
        <p:nvSpPr>
          <p:cNvPr id="113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</a:pPr>
            <a:r>
              <a:t>• Real-time scanning quality checks.</a:t>
            </a:r>
          </a:p>
          <a:p>
            <a:pPr marL="0" indent="0">
              <a:buSzTx/>
              <a:buFontTx/>
              <a:buNone/>
            </a:pPr>
            <a:r>
              <a:t>• Faster backend validation.</a:t>
            </a:r>
          </a:p>
          <a:p>
            <a:pPr marL="0" indent="0">
              <a:buSzTx/>
              <a:buFontTx/>
              <a:buNone/>
            </a:pPr>
            <a:r>
              <a:t>• Clear retry messaging.</a:t>
            </a:r>
          </a:p>
          <a:p>
            <a:pPr marL="0" indent="0">
              <a:buSzTx/>
              <a:buFontTx/>
              <a:buNone/>
            </a:pPr>
            <a:r>
              <a:t>• Reduce friction during document upload.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hank You."/>
          <p:cNvSpPr txBox="1"/>
          <p:nvPr>
            <p:ph type="ctrTitle"/>
          </p:nvPr>
        </p:nvSpPr>
        <p:spPr>
          <a:xfrm>
            <a:off x="685799" y="2693987"/>
            <a:ext cx="7772401" cy="1470026"/>
          </a:xfrm>
          <a:prstGeom prst="rect">
            <a:avLst/>
          </a:prstGeom>
        </p:spPr>
        <p:txBody>
          <a:bodyPr/>
          <a:lstStyle/>
          <a:p>
            <a:pPr/>
            <a:r>
              <a:t>Thank You.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